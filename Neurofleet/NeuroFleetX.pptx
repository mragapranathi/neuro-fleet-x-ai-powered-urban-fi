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75" r:id="rId1"/>
  </p:sldMasterIdLst>
  <p:notesMasterIdLst>
    <p:notesMasterId r:id="rId10"/>
  </p:notes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  <p:sldId id="263" r:id="rId9"/>
  </p:sldIdLst>
  <p:sldSz cx="14630400" cy="8229600"/>
  <p:notesSz cx="8229600" cy="146304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Garamond" panose="02020404030301010803" pitchFamily="18" charset="0"/>
      <p:regular r:id="rId15"/>
      <p:bold r:id="rId16"/>
      <p:italic r:id="rId17"/>
    </p:embeddedFont>
    <p:embeddedFont>
      <p:font typeface="Lato" panose="020B0604020202020204" charset="0"/>
      <p:regular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5100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20321" y="0"/>
            <a:ext cx="14677392" cy="8227457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30878" y="2245358"/>
            <a:ext cx="8178803" cy="1818640"/>
          </a:xfrm>
        </p:spPr>
        <p:txBody>
          <a:bodyPr anchor="b">
            <a:noAutofit/>
          </a:bodyPr>
          <a:lstStyle>
            <a:lvl1pPr algn="ctr">
              <a:defRPr sz="648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0878" y="4389117"/>
            <a:ext cx="8178803" cy="1584962"/>
          </a:xfrm>
        </p:spPr>
        <p:txBody>
          <a:bodyPr anchor="t">
            <a:normAutofit/>
          </a:bodyPr>
          <a:lstStyle>
            <a:lvl1pPr marL="0" indent="0" algn="ctr">
              <a:buNone/>
              <a:defRPr sz="2520">
                <a:solidFill>
                  <a:schemeClr val="tx1"/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579879" y="6045196"/>
            <a:ext cx="1076960" cy="335280"/>
          </a:xfrm>
        </p:spPr>
        <p:txBody>
          <a:bodyPr/>
          <a:lstStyle/>
          <a:p>
            <a:fld id="{6AD6EE87-EBD5-4F12-A48A-63ACA297AC8F}" type="datetimeFigureOut">
              <a:rPr lang="en-US" smtClean="0"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30877" y="6045196"/>
            <a:ext cx="6257562" cy="3352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48281" y="6045196"/>
            <a:ext cx="661400" cy="335280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3230879" y="4226557"/>
            <a:ext cx="81788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603659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66518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8083" y="2103127"/>
            <a:ext cx="9790426" cy="2187017"/>
          </a:xfrm>
        </p:spPr>
        <p:txBody>
          <a:bodyPr anchor="b">
            <a:normAutofit/>
          </a:bodyPr>
          <a:lstStyle>
            <a:lvl1pPr algn="ctr">
              <a:defRPr sz="528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18080" y="4615262"/>
            <a:ext cx="9790428" cy="1145456"/>
          </a:xfrm>
        </p:spPr>
        <p:txBody>
          <a:bodyPr anchor="t">
            <a:normAutofit/>
          </a:bodyPr>
          <a:lstStyle>
            <a:lvl1pPr marL="0" indent="0" algn="ctr">
              <a:buNone/>
              <a:defRPr sz="288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415268" y="4452702"/>
            <a:ext cx="9796056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523023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58138" y="3072384"/>
            <a:ext cx="5661965" cy="397215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17613" y="3072384"/>
            <a:ext cx="5661965" cy="397215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10/8/2025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59897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0" y="3190240"/>
            <a:ext cx="5661965" cy="691514"/>
          </a:xfrm>
        </p:spPr>
        <p:txBody>
          <a:bodyPr anchor="b">
            <a:noAutofit/>
          </a:bodyPr>
          <a:lstStyle>
            <a:lvl1pPr marL="0" indent="0">
              <a:spcBef>
                <a:spcPts val="806"/>
              </a:spcBef>
              <a:spcAft>
                <a:spcPts val="720"/>
              </a:spcAft>
              <a:buNone/>
              <a:defRPr sz="336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54480" y="3891915"/>
            <a:ext cx="5661965" cy="315912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16804" y="3190240"/>
            <a:ext cx="5661965" cy="691514"/>
          </a:xfrm>
        </p:spPr>
        <p:txBody>
          <a:bodyPr anchor="b">
            <a:noAutofit/>
          </a:bodyPr>
          <a:lstStyle>
            <a:lvl1pPr marL="0" indent="0">
              <a:spcBef>
                <a:spcPts val="806"/>
              </a:spcBef>
              <a:spcAft>
                <a:spcPts val="720"/>
              </a:spcAft>
              <a:buNone/>
              <a:defRPr sz="336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16804" y="3891915"/>
            <a:ext cx="5661965" cy="315912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10/8/2025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373373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10/8/2025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80463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10/8/2025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7650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2574" y="1666241"/>
            <a:ext cx="4462146" cy="1645920"/>
          </a:xfrm>
        </p:spPr>
        <p:txBody>
          <a:bodyPr anchor="b">
            <a:normAutofit/>
          </a:bodyPr>
          <a:lstStyle>
            <a:lvl1pPr algn="ctr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2402" y="1178558"/>
            <a:ext cx="6563359" cy="5872482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52574" y="3637278"/>
            <a:ext cx="4462146" cy="2926085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10/8/2025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675403" y="3495040"/>
            <a:ext cx="42173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523311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79" y="2260598"/>
            <a:ext cx="7490179" cy="1645920"/>
          </a:xfrm>
        </p:spPr>
        <p:txBody>
          <a:bodyPr anchor="b">
            <a:normAutofit/>
          </a:bodyPr>
          <a:lstStyle>
            <a:lvl1pPr algn="ctr">
              <a:defRPr sz="336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13798" y="1249680"/>
            <a:ext cx="3676016" cy="573024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54479" y="3906518"/>
            <a:ext cx="7490179" cy="2194560"/>
          </a:xfrm>
        </p:spPr>
        <p:txBody>
          <a:bodyPr anchor="t">
            <a:normAutofit/>
          </a:bodyPr>
          <a:lstStyle>
            <a:lvl1pPr marL="0" indent="0" algn="ctr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10/8/2025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30717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1" y="5778498"/>
            <a:ext cx="11531599" cy="680086"/>
          </a:xfrm>
        </p:spPr>
        <p:txBody>
          <a:bodyPr anchor="b">
            <a:normAutofit/>
          </a:bodyPr>
          <a:lstStyle>
            <a:lvl1pPr algn="ctr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49713" y="1249679"/>
            <a:ext cx="12127166" cy="4003043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54481" y="6458584"/>
            <a:ext cx="11531599" cy="592454"/>
          </a:xfrm>
        </p:spPr>
        <p:txBody>
          <a:bodyPr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56099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4642" y="1178558"/>
            <a:ext cx="11511278" cy="3545842"/>
          </a:xfrm>
        </p:spPr>
        <p:txBody>
          <a:bodyPr anchor="ctr">
            <a:normAutofit/>
          </a:bodyPr>
          <a:lstStyle>
            <a:lvl1pPr algn="ctr">
              <a:defRPr sz="384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4642" y="5212080"/>
            <a:ext cx="11511278" cy="18389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675403" y="496823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173339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455" y="1178558"/>
            <a:ext cx="11155678" cy="2844802"/>
          </a:xfrm>
        </p:spPr>
        <p:txBody>
          <a:bodyPr anchor="ctr">
            <a:normAutofit/>
          </a:bodyPr>
          <a:lstStyle>
            <a:lvl1pPr algn="ctr">
              <a:defRPr sz="384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009775" y="4023360"/>
            <a:ext cx="10607042" cy="70104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400"/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1" y="5212080"/>
            <a:ext cx="11531599" cy="18389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034416" y="1055953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20320" y="339344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675403" y="496823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114052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2" y="3970297"/>
            <a:ext cx="11531602" cy="1762560"/>
          </a:xfrm>
        </p:spPr>
        <p:txBody>
          <a:bodyPr anchor="b">
            <a:normAutofit/>
          </a:bodyPr>
          <a:lstStyle>
            <a:lvl1pPr algn="l">
              <a:defRPr sz="384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1" y="5732857"/>
            <a:ext cx="11531602" cy="1032480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44446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455" y="1178558"/>
            <a:ext cx="11155678" cy="2692402"/>
          </a:xfrm>
        </p:spPr>
        <p:txBody>
          <a:bodyPr anchor="ctr">
            <a:normAutofit/>
          </a:bodyPr>
          <a:lstStyle>
            <a:lvl1pPr algn="ctr">
              <a:defRPr sz="384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554481" y="4367174"/>
            <a:ext cx="11531602" cy="1064362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8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1" y="5435600"/>
            <a:ext cx="11531602" cy="1615440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034416" y="1055953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20320" y="3119113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675403" y="4114800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87655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1" y="1178558"/>
            <a:ext cx="11531599" cy="269240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554481" y="4356201"/>
            <a:ext cx="11531602" cy="100949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33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0" y="5364480"/>
            <a:ext cx="11531604" cy="1686560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675403" y="4114800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25897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255799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99228" y="1178558"/>
            <a:ext cx="2269074" cy="58724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54478" y="1178558"/>
            <a:ext cx="8919630" cy="587248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636668" y="1188720"/>
            <a:ext cx="0" cy="585216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4140476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13133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11067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5913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92546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72130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7013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4402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8883" y="0"/>
            <a:ext cx="14675954" cy="8227457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4483" y="1178559"/>
            <a:ext cx="11521435" cy="156464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1" y="3068319"/>
            <a:ext cx="11521435" cy="39827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13001" y="7162800"/>
            <a:ext cx="1920240" cy="335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0298CD5-6C1E-4009-B41F-6DF62E31D3BE}" type="datetimeFigureOut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54481" y="7162800"/>
            <a:ext cx="8767080" cy="335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424682" y="7162800"/>
            <a:ext cx="651236" cy="335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993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  <p:sldLayoutId id="2147483696" r:id="rId21"/>
    <p:sldLayoutId id="2147483697" r:id="rId22"/>
    <p:sldLayoutId id="2147483698" r:id="rId23"/>
    <p:sldLayoutId id="2147483699" r:id="rId24"/>
  </p:sldLayoutIdLst>
  <p:hf sldNum="0" hdr="0" ftr="0" dt="0"/>
  <p:txStyles>
    <p:titleStyle>
      <a:lvl1pPr algn="ctr" defTabSz="548640" rtl="0" eaLnBrk="1" latinLnBrk="0" hangingPunct="1">
        <a:spcBef>
          <a:spcPct val="0"/>
        </a:spcBef>
        <a:buNone/>
        <a:defRPr sz="528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28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44018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216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851660" indent="-20574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92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400300" indent="-20574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4.xml"/><Relationship Id="rId4" Type="http://schemas.openxmlformats.org/officeDocument/2006/relationships/hyperlink" Target="https://svgsilh.com/image/394180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4CA6C6F-DE14-4F30-A49D-E9424D0C7DA6}"/>
              </a:ext>
            </a:extLst>
          </p:cNvPr>
          <p:cNvSpPr/>
          <p:nvPr/>
        </p:nvSpPr>
        <p:spPr>
          <a:xfrm>
            <a:off x="0" y="2639757"/>
            <a:ext cx="146304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5400" b="1" dirty="0">
                <a:solidFill>
                  <a:srgbClr val="1F1F1F"/>
                </a:solidFill>
                <a:latin typeface="Google Sans"/>
              </a:rPr>
              <a:t>NeuroFleetX AI-Driven Urban Mobility Optimization</a:t>
            </a:r>
            <a:endParaRPr lang="en-IN" sz="5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FB54ED-5DB7-4032-9730-849F5D6018FA}"/>
              </a:ext>
            </a:extLst>
          </p:cNvPr>
          <p:cNvSpPr txBox="1"/>
          <p:nvPr/>
        </p:nvSpPr>
        <p:spPr>
          <a:xfrm>
            <a:off x="9160042" y="5534310"/>
            <a:ext cx="4572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BY </a:t>
            </a:r>
          </a:p>
          <a:p>
            <a:r>
              <a:rPr lang="en-GB" sz="2800" b="1" dirty="0"/>
              <a:t>Raga Pranathi Mithinti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826135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12607"/>
            <a:ext cx="7556421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NeuroFleetX</a:t>
            </a:r>
            <a:endParaRPr lang="en-US" sz="8900" dirty="0"/>
          </a:p>
        </p:txBody>
      </p:sp>
      <p:sp>
        <p:nvSpPr>
          <p:cNvPr id="4" name="Text 1"/>
          <p:cNvSpPr/>
          <p:nvPr/>
        </p:nvSpPr>
        <p:spPr>
          <a:xfrm>
            <a:off x="6280190" y="357044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AI-Driven Urban Mobility Optimization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90" y="5328166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feature-rich platform designed for customers, fleet managers, delivery personnel, and admins, offering real-time monitoring, AI route optimization, and predictive analytics to revolutionize urban mobility.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1027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8764" y="2698433"/>
            <a:ext cx="8090892" cy="525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Milestone 1: Secure Authentication System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88764" y="3476387"/>
            <a:ext cx="13452872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initial milestone focused on implementing a secure and role-based signup and login system to ensure appropriate access for all user types.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88764" y="4186952"/>
            <a:ext cx="6642378" cy="1513284"/>
          </a:xfrm>
          <a:prstGeom prst="roundRect">
            <a:avLst>
              <a:gd name="adj" fmla="val 7251"/>
            </a:avLst>
          </a:prstGeom>
          <a:solidFill>
            <a:srgbClr val="EFECE6"/>
          </a:solidFill>
          <a:ln/>
        </p:spPr>
      </p:sp>
      <p:sp>
        <p:nvSpPr>
          <p:cNvPr id="6" name="Shape 3"/>
          <p:cNvSpPr/>
          <p:nvPr/>
        </p:nvSpPr>
        <p:spPr>
          <a:xfrm>
            <a:off x="588764" y="4164092"/>
            <a:ext cx="6642378" cy="91440"/>
          </a:xfrm>
          <a:prstGeom prst="roundRect">
            <a:avLst>
              <a:gd name="adj" fmla="val 27596"/>
            </a:avLst>
          </a:prstGeom>
          <a:solidFill>
            <a:srgbClr val="282824"/>
          </a:solidFill>
          <a:ln/>
        </p:spPr>
      </p:sp>
      <p:sp>
        <p:nvSpPr>
          <p:cNvPr id="7" name="Shape 4"/>
          <p:cNvSpPr/>
          <p:nvPr/>
        </p:nvSpPr>
        <p:spPr>
          <a:xfrm>
            <a:off x="3657600" y="3934658"/>
            <a:ext cx="504587" cy="504587"/>
          </a:xfrm>
          <a:prstGeom prst="roundRect">
            <a:avLst>
              <a:gd name="adj" fmla="val 181218"/>
            </a:avLst>
          </a:prstGeom>
          <a:solidFill>
            <a:srgbClr val="282824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8928" y="4060746"/>
            <a:ext cx="201811" cy="2522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9740" y="4607481"/>
            <a:ext cx="2102763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Signup Page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779740" y="4971098"/>
            <a:ext cx="6260425" cy="538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Users create accounts with Name, Email, Password, and Role selection (Customer, Fleet Manager, Admin, Delivery). Includes password validation and error handling.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399258" y="4186952"/>
            <a:ext cx="6642378" cy="1513284"/>
          </a:xfrm>
          <a:prstGeom prst="roundRect">
            <a:avLst>
              <a:gd name="adj" fmla="val 7251"/>
            </a:avLst>
          </a:prstGeom>
          <a:solidFill>
            <a:srgbClr val="EFECE6"/>
          </a:solidFill>
          <a:ln/>
        </p:spPr>
      </p:sp>
      <p:sp>
        <p:nvSpPr>
          <p:cNvPr id="12" name="Shape 8"/>
          <p:cNvSpPr/>
          <p:nvPr/>
        </p:nvSpPr>
        <p:spPr>
          <a:xfrm>
            <a:off x="7399258" y="4164092"/>
            <a:ext cx="6642378" cy="91440"/>
          </a:xfrm>
          <a:prstGeom prst="roundRect">
            <a:avLst>
              <a:gd name="adj" fmla="val 27596"/>
            </a:avLst>
          </a:prstGeom>
          <a:solidFill>
            <a:srgbClr val="282824"/>
          </a:solidFill>
          <a:ln/>
        </p:spPr>
      </p:sp>
      <p:sp>
        <p:nvSpPr>
          <p:cNvPr id="13" name="Shape 9"/>
          <p:cNvSpPr/>
          <p:nvPr/>
        </p:nvSpPr>
        <p:spPr>
          <a:xfrm>
            <a:off x="10468094" y="3934658"/>
            <a:ext cx="504587" cy="504587"/>
          </a:xfrm>
          <a:prstGeom prst="roundRect">
            <a:avLst>
              <a:gd name="adj" fmla="val 181218"/>
            </a:avLst>
          </a:prstGeom>
          <a:solidFill>
            <a:srgbClr val="282824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9423" y="4060746"/>
            <a:ext cx="201811" cy="2522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90234" y="4607481"/>
            <a:ext cx="2102763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Login Page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7590234" y="4971098"/>
            <a:ext cx="6260425" cy="538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Registered users log in with email/password. Role-based authentication redirects to the appropriate dashboard. Error messages for invalid credentials.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88764" y="6120646"/>
            <a:ext cx="6642378" cy="1513284"/>
          </a:xfrm>
          <a:prstGeom prst="roundRect">
            <a:avLst>
              <a:gd name="adj" fmla="val 7251"/>
            </a:avLst>
          </a:prstGeom>
          <a:solidFill>
            <a:srgbClr val="EFECE6"/>
          </a:solidFill>
          <a:ln/>
        </p:spPr>
      </p:sp>
      <p:sp>
        <p:nvSpPr>
          <p:cNvPr id="18" name="Shape 13"/>
          <p:cNvSpPr/>
          <p:nvPr/>
        </p:nvSpPr>
        <p:spPr>
          <a:xfrm>
            <a:off x="588764" y="6097786"/>
            <a:ext cx="6642378" cy="91440"/>
          </a:xfrm>
          <a:prstGeom prst="roundRect">
            <a:avLst>
              <a:gd name="adj" fmla="val 27596"/>
            </a:avLst>
          </a:prstGeom>
          <a:solidFill>
            <a:srgbClr val="282824"/>
          </a:solidFill>
          <a:ln/>
        </p:spPr>
      </p:sp>
      <p:sp>
        <p:nvSpPr>
          <p:cNvPr id="19" name="Shape 14"/>
          <p:cNvSpPr/>
          <p:nvPr/>
        </p:nvSpPr>
        <p:spPr>
          <a:xfrm>
            <a:off x="3657600" y="5868352"/>
            <a:ext cx="504587" cy="504587"/>
          </a:xfrm>
          <a:prstGeom prst="roundRect">
            <a:avLst>
              <a:gd name="adj" fmla="val 181218"/>
            </a:avLst>
          </a:prstGeom>
          <a:solidFill>
            <a:srgbClr val="282824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928" y="5994440"/>
            <a:ext cx="201811" cy="25229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79740" y="6541175"/>
            <a:ext cx="2102763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Authentication Flow</a:t>
            </a:r>
            <a:endParaRPr lang="en-US" sz="1650" dirty="0"/>
          </a:p>
        </p:txBody>
      </p:sp>
      <p:sp>
        <p:nvSpPr>
          <p:cNvPr id="22" name="Text 16"/>
          <p:cNvSpPr/>
          <p:nvPr/>
        </p:nvSpPr>
        <p:spPr>
          <a:xfrm>
            <a:off x="779740" y="6904792"/>
            <a:ext cx="6260425" cy="538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Passwords are hashed (bcrypt) before storage. JWT token is used for secure session management and protected, role-specific API endpoints.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7399258" y="6120646"/>
            <a:ext cx="6642378" cy="1513284"/>
          </a:xfrm>
          <a:prstGeom prst="roundRect">
            <a:avLst>
              <a:gd name="adj" fmla="val 7251"/>
            </a:avLst>
          </a:prstGeom>
          <a:solidFill>
            <a:srgbClr val="EFECE6"/>
          </a:solidFill>
          <a:ln/>
        </p:spPr>
      </p:sp>
      <p:sp>
        <p:nvSpPr>
          <p:cNvPr id="24" name="Shape 18"/>
          <p:cNvSpPr/>
          <p:nvPr/>
        </p:nvSpPr>
        <p:spPr>
          <a:xfrm>
            <a:off x="7399258" y="6097786"/>
            <a:ext cx="6642378" cy="91440"/>
          </a:xfrm>
          <a:prstGeom prst="roundRect">
            <a:avLst>
              <a:gd name="adj" fmla="val 27596"/>
            </a:avLst>
          </a:prstGeom>
          <a:solidFill>
            <a:srgbClr val="282824"/>
          </a:solidFill>
          <a:ln/>
        </p:spPr>
      </p:sp>
      <p:sp>
        <p:nvSpPr>
          <p:cNvPr id="25" name="Shape 19"/>
          <p:cNvSpPr/>
          <p:nvPr/>
        </p:nvSpPr>
        <p:spPr>
          <a:xfrm>
            <a:off x="10468094" y="5868352"/>
            <a:ext cx="504587" cy="504587"/>
          </a:xfrm>
          <a:prstGeom prst="roundRect">
            <a:avLst>
              <a:gd name="adj" fmla="val 181218"/>
            </a:avLst>
          </a:prstGeom>
          <a:solidFill>
            <a:srgbClr val="282824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19423" y="5994440"/>
            <a:ext cx="201811" cy="252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590234" y="6541175"/>
            <a:ext cx="2102763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UI/UX Design</a:t>
            </a:r>
            <a:endParaRPr lang="en-US" sz="1650" dirty="0"/>
          </a:p>
        </p:txBody>
      </p:sp>
      <p:sp>
        <p:nvSpPr>
          <p:cNvPr id="28" name="Text 21"/>
          <p:cNvSpPr/>
          <p:nvPr/>
        </p:nvSpPr>
        <p:spPr>
          <a:xfrm>
            <a:off x="7590234" y="6904792"/>
            <a:ext cx="6260425" cy="538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Modern and responsive design with clear, intuitive forms. Features smooth backgrounds, validation feedback, and user-friendly messages.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4235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81487" y="546140"/>
            <a:ext cx="7753826" cy="124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Milestone 2: Backend APIs &amp; Core Functionalities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181487" y="2085142"/>
            <a:ext cx="7753826" cy="63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Implementation of the robust backend infrastructure to support all role-based operations, including CRUD operations for key entities and secure API endpoints.</a:t>
            </a:r>
            <a:endParaRPr lang="en-US" sz="15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487" y="2943820"/>
            <a:ext cx="7753826" cy="3548658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62781" y="3829825"/>
            <a:ext cx="498533" cy="49853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2118618" y="5509571"/>
            <a:ext cx="1455718" cy="560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Vehicle Telemetry</a:t>
            </a:r>
            <a:endParaRPr lang="en-US" sz="13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37681" y="3830760"/>
            <a:ext cx="498533" cy="49853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0284016" y="5509571"/>
            <a:ext cx="1455718" cy="560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Delivery Tracking</a:t>
            </a:r>
            <a:endParaRPr lang="en-US" sz="135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3049" y="3830760"/>
            <a:ext cx="498533" cy="498533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8459384" y="5509571"/>
            <a:ext cx="1455718" cy="560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Order Management</a:t>
            </a:r>
            <a:endParaRPr lang="en-US" sz="135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8447" y="3830760"/>
            <a:ext cx="498533" cy="498533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6594870" y="5509571"/>
            <a:ext cx="1455717" cy="560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User Management</a:t>
            </a:r>
            <a:endParaRPr lang="en-US" sz="1350" dirty="0"/>
          </a:p>
        </p:txBody>
      </p:sp>
      <p:sp>
        <p:nvSpPr>
          <p:cNvPr id="14" name="Shape 6"/>
          <p:cNvSpPr/>
          <p:nvPr/>
        </p:nvSpPr>
        <p:spPr>
          <a:xfrm>
            <a:off x="6181487" y="6715839"/>
            <a:ext cx="7753826" cy="1161574"/>
          </a:xfrm>
          <a:prstGeom prst="roundRect">
            <a:avLst>
              <a:gd name="adj" fmla="val 2565"/>
            </a:avLst>
          </a:prstGeom>
          <a:solidFill>
            <a:srgbClr val="DBDBD7"/>
          </a:solidFill>
          <a:ln/>
        </p:spPr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0083" y="7018853"/>
            <a:ext cx="248245" cy="198596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6826925" y="6964085"/>
            <a:ext cx="6909792" cy="63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backend supports CRUD operations for users, orders, vehicles, and deliveries, secured by role-based access control.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5423" y="413623"/>
            <a:ext cx="3104198" cy="37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Core Backend Features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7307580" y="1089184"/>
            <a:ext cx="15240" cy="6726793"/>
          </a:xfrm>
          <a:prstGeom prst="roundRect">
            <a:avLst>
              <a:gd name="adj" fmla="val 147788"/>
            </a:avLst>
          </a:prstGeom>
          <a:solidFill>
            <a:srgbClr val="CBC5B8"/>
          </a:solidFill>
          <a:ln/>
        </p:spPr>
      </p:sp>
      <p:sp>
        <p:nvSpPr>
          <p:cNvPr id="4" name="Shape 2"/>
          <p:cNvSpPr/>
          <p:nvPr/>
        </p:nvSpPr>
        <p:spPr>
          <a:xfrm>
            <a:off x="510183" y="1089184"/>
            <a:ext cx="6789777" cy="1105138"/>
          </a:xfrm>
          <a:prstGeom prst="roundRect">
            <a:avLst>
              <a:gd name="adj" fmla="val 2038"/>
            </a:avLst>
          </a:prstGeom>
          <a:solidFill>
            <a:srgbClr val="E5DFD2"/>
          </a:solidFill>
          <a:ln/>
        </p:spPr>
      </p:sp>
      <p:sp>
        <p:nvSpPr>
          <p:cNvPr id="5" name="Text 3"/>
          <p:cNvSpPr/>
          <p:nvPr/>
        </p:nvSpPr>
        <p:spPr>
          <a:xfrm>
            <a:off x="5272921" y="1239322"/>
            <a:ext cx="1876901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User Management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0321" y="1563886"/>
            <a:ext cx="6489502" cy="480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85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API endpoints for creating, reading, updating, and deleting users. Role-based access control ensures security (Admin-only deletion).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30440" y="2494598"/>
            <a:ext cx="6789777" cy="1105138"/>
          </a:xfrm>
          <a:prstGeom prst="rect">
            <a:avLst/>
          </a:prstGeom>
          <a:solidFill>
            <a:srgbClr val="E5DFD2"/>
          </a:solidFill>
          <a:ln/>
        </p:spPr>
      </p:sp>
      <p:sp>
        <p:nvSpPr>
          <p:cNvPr id="8" name="Text 6"/>
          <p:cNvSpPr/>
          <p:nvPr/>
        </p:nvSpPr>
        <p:spPr>
          <a:xfrm>
            <a:off x="7480578" y="2644735"/>
            <a:ext cx="1876901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Order Management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80578" y="2969300"/>
            <a:ext cx="6489502" cy="480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APIs to create new orders (Customer), fetch all orders (Admin/Fleet Manager), and update order status (Pending, In-Progress, Delivered).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10183" y="3900011"/>
            <a:ext cx="6789777" cy="1105138"/>
          </a:xfrm>
          <a:prstGeom prst="roundRect">
            <a:avLst>
              <a:gd name="adj" fmla="val 2038"/>
            </a:avLst>
          </a:prstGeom>
          <a:solidFill>
            <a:srgbClr val="E5DFD2"/>
          </a:solidFill>
          <a:ln/>
        </p:spPr>
      </p:sp>
      <p:sp>
        <p:nvSpPr>
          <p:cNvPr id="11" name="Text 9"/>
          <p:cNvSpPr/>
          <p:nvPr/>
        </p:nvSpPr>
        <p:spPr>
          <a:xfrm>
            <a:off x="5272921" y="4050149"/>
            <a:ext cx="1876901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Delivery Tracking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60321" y="4374713"/>
            <a:ext cx="6489502" cy="480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85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Delivery personnel can fetch assigned tasks, update status, and track ETA based on real-time traffic and route simulation.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30440" y="5305425"/>
            <a:ext cx="6789777" cy="1105138"/>
          </a:xfrm>
          <a:prstGeom prst="rect">
            <a:avLst/>
          </a:prstGeom>
          <a:solidFill>
            <a:srgbClr val="E5DFD2"/>
          </a:solidFill>
          <a:ln/>
        </p:spPr>
      </p:sp>
      <p:sp>
        <p:nvSpPr>
          <p:cNvPr id="14" name="Text 12"/>
          <p:cNvSpPr/>
          <p:nvPr/>
        </p:nvSpPr>
        <p:spPr>
          <a:xfrm>
            <a:off x="7480578" y="5455563"/>
            <a:ext cx="3292673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Vehicle Telemetry &amp; Fleet Management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480578" y="5780127"/>
            <a:ext cx="6489502" cy="480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Fleet managers can add/update vehicle status and fetch simulated telemetry data (speed, location, fuel) for dashboard display.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10183" y="6710839"/>
            <a:ext cx="6789777" cy="1105138"/>
          </a:xfrm>
          <a:prstGeom prst="roundRect">
            <a:avLst>
              <a:gd name="adj" fmla="val 2038"/>
            </a:avLst>
          </a:prstGeom>
          <a:solidFill>
            <a:srgbClr val="E5DFD2"/>
          </a:solidFill>
          <a:ln/>
        </p:spPr>
      </p:sp>
      <p:sp>
        <p:nvSpPr>
          <p:cNvPr id="17" name="Text 15"/>
          <p:cNvSpPr/>
          <p:nvPr/>
        </p:nvSpPr>
        <p:spPr>
          <a:xfrm>
            <a:off x="4971812" y="6860977"/>
            <a:ext cx="2178010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Security &amp; Authentication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60321" y="7185541"/>
            <a:ext cx="6489502" cy="480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85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All API endpoints are secured with JWT-based authentication and role-based middleware to restrict unauthorized access.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9020" y="740331"/>
            <a:ext cx="8530828" cy="650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Milestone 3: Role-Based Dashboards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29020" y="1807845"/>
            <a:ext cx="13172361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Four interactive dashboards were implemented, providing real-time information, analytics, and features tailored to each user role.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20" y="2375535"/>
            <a:ext cx="520660" cy="5206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020" y="3156466"/>
            <a:ext cx="2603778" cy="325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Customer Dashboard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729020" y="3606760"/>
            <a:ext cx="6456045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Features include order tracking, dynamic traffic updates, emergency alerts, best route suggestions, and predictive maintenance notifications.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5335" y="2375535"/>
            <a:ext cx="520660" cy="5206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45335" y="3156466"/>
            <a:ext cx="3018592" cy="325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Fleet Manager Dashboard</a:t>
            </a:r>
            <a:endParaRPr lang="en-US" sz="2050" dirty="0"/>
          </a:p>
        </p:txBody>
      </p:sp>
      <p:sp>
        <p:nvSpPr>
          <p:cNvPr id="9" name="Text 5"/>
          <p:cNvSpPr/>
          <p:nvPr/>
        </p:nvSpPr>
        <p:spPr>
          <a:xfrm>
            <a:off x="7445335" y="3606760"/>
            <a:ext cx="645604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Real-time vehicle tracking, fleet inventory, AI-powered route/load optimization, predictive maintenance alerts, and task assignment.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020" y="5023485"/>
            <a:ext cx="520660" cy="5206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29020" y="5804416"/>
            <a:ext cx="2603778" cy="325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Admin Dashboard</a:t>
            </a:r>
            <a:endParaRPr lang="en-US" sz="2050" dirty="0"/>
          </a:p>
        </p:txBody>
      </p:sp>
      <p:sp>
        <p:nvSpPr>
          <p:cNvPr id="12" name="Text 7"/>
          <p:cNvSpPr/>
          <p:nvPr/>
        </p:nvSpPr>
        <p:spPr>
          <a:xfrm>
            <a:off x="729020" y="6254710"/>
            <a:ext cx="645604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Full user management, analytics on fleet performance and traffic trends, urban mobility insights, and system monitoring/reporting.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5335" y="5023485"/>
            <a:ext cx="520660" cy="5206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45335" y="5804416"/>
            <a:ext cx="3545324" cy="325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Delivery Personnel Dashboard</a:t>
            </a:r>
            <a:endParaRPr lang="en-US" sz="2050" dirty="0"/>
          </a:p>
        </p:txBody>
      </p:sp>
      <p:sp>
        <p:nvSpPr>
          <p:cNvPr id="15" name="Text 9"/>
          <p:cNvSpPr/>
          <p:nvPr/>
        </p:nvSpPr>
        <p:spPr>
          <a:xfrm>
            <a:off x="7445335" y="6254710"/>
            <a:ext cx="645604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Displays active deliveries, assigned tasks, optimized route suggestions, ETA updates, and real-time traffic/emergency alerts.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729020" y="7155775"/>
            <a:ext cx="13172361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Dynamic features include real-time simulations for traffic and emergencies, interactive cards, and fully responsive layouts.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417" y="377428"/>
            <a:ext cx="4190524" cy="428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Technology Stack Summary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80417" y="1080730"/>
            <a:ext cx="13669566" cy="219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NeuroFleetX platform is built on a modern, scalable, and secure technology stack.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417" y="1609130"/>
            <a:ext cx="6667381" cy="66673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0417" y="8430935"/>
            <a:ext cx="2059067" cy="257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Core Technologies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80417" y="8825389"/>
            <a:ext cx="6667381" cy="219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Frontend:</a:t>
            </a: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React.js (responsive &amp; modern UI)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80417" y="9092922"/>
            <a:ext cx="6667381" cy="219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Backend:</a:t>
            </a: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Node.js, Express.js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80417" y="9360456"/>
            <a:ext cx="6667381" cy="219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Database:</a:t>
            </a: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MongoDB (NoSQL flexibility)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490222" y="1591866"/>
            <a:ext cx="2237899" cy="257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Security &amp; Development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490222" y="2003584"/>
            <a:ext cx="548997" cy="845463"/>
          </a:xfrm>
          <a:prstGeom prst="roundRect">
            <a:avLst>
              <a:gd name="adj" fmla="val 360074"/>
            </a:avLst>
          </a:prstGeom>
          <a:solidFill>
            <a:srgbClr val="E5DFD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1791" y="2297668"/>
            <a:ext cx="205859" cy="2572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176379" y="2140744"/>
            <a:ext cx="1715929" cy="214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Authentication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8176379" y="2492335"/>
            <a:ext cx="5981224" cy="219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JWT for session management and bcrypt for secure password hashing.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490222" y="2986207"/>
            <a:ext cx="548997" cy="845463"/>
          </a:xfrm>
          <a:prstGeom prst="roundRect">
            <a:avLst>
              <a:gd name="adj" fmla="val 360074"/>
            </a:avLst>
          </a:prstGeom>
          <a:solidFill>
            <a:srgbClr val="E5DFD2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1791" y="3280291"/>
            <a:ext cx="205859" cy="25729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76379" y="3123367"/>
            <a:ext cx="1715929" cy="214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Dynamic Features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8176379" y="3474958"/>
            <a:ext cx="5981224" cy="219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Utilizes dynamic counters and conditional rendering for real-time data display.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7490222" y="3968829"/>
            <a:ext cx="548997" cy="845463"/>
          </a:xfrm>
          <a:prstGeom prst="roundRect">
            <a:avLst>
              <a:gd name="adj" fmla="val 360074"/>
            </a:avLst>
          </a:prstGeom>
          <a:solidFill>
            <a:srgbClr val="E5DFD2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1791" y="4262914"/>
            <a:ext cx="205859" cy="25729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176379" y="4105989"/>
            <a:ext cx="1715929" cy="214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Design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8176379" y="4457581"/>
            <a:ext cx="5981224" cy="219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Fully responsive cards and smooth background gradients for a modern user experience.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BACDCB1-8AC7-4AF6-90F8-7ED0EC88AE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827729" y="487586"/>
            <a:ext cx="9674460" cy="7254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1939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</TotalTime>
  <Words>605</Words>
  <Application>Microsoft Office PowerPoint</Application>
  <PresentationFormat>Custom</PresentationFormat>
  <Paragraphs>64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Garamond</vt:lpstr>
      <vt:lpstr>Arial</vt:lpstr>
      <vt:lpstr>Calibri</vt:lpstr>
      <vt:lpstr>Google Sans</vt:lpstr>
      <vt:lpstr>Lato</vt:lpstr>
      <vt:lpstr>Lato Bold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new</dc:creator>
  <cp:lastModifiedBy>new</cp:lastModifiedBy>
  <cp:revision>4</cp:revision>
  <dcterms:created xsi:type="dcterms:W3CDTF">2025-10-08T13:30:33Z</dcterms:created>
  <dcterms:modified xsi:type="dcterms:W3CDTF">2025-10-08T13:38:15Z</dcterms:modified>
</cp:coreProperties>
</file>